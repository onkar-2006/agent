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hdEqI964/XQaywwUO4GFCAbHh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8D4C13-7766-4214-83BA-9AAB6EA30B77}">
  <a:tblStyle styleId="{B58D4C13-7766-4214-83BA-9AAB6EA30B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185d097e2ae31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h185d097e2ae313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185d097e2ae313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h185d097e2ae313d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185d097e2ae313d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h185d097e2ae313d_2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6786e28b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f6786e28b8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784dff3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f6784dff32_0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784dff32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f6784dff32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185d097e2ae313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h185d097e2ae313d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185d097e2ae313d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h185d097e2ae313d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409ce94ca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409ce94ca6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6786e28b8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f6786e28b8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09ce94ca6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409ce94ca6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idx="1" type="subTitle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AND_BOD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185d097e2ae313d_2_71"/>
          <p:cNvSpPr txBox="1"/>
          <p:nvPr>
            <p:ph type="title"/>
          </p:nvPr>
        </p:nvSpPr>
        <p:spPr>
          <a:xfrm>
            <a:off x="311760" y="744480"/>
            <a:ext cx="8520000" cy="20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h185d097e2ae313d_2_71"/>
          <p:cNvSpPr txBox="1"/>
          <p:nvPr>
            <p:ph idx="1" type="subTitle"/>
          </p:nvPr>
        </p:nvSpPr>
        <p:spPr>
          <a:xfrm>
            <a:off x="457200" y="120348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h185d097e2ae313d_2_71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/>
          <p:nvPr>
            <p:ph idx="1" type="subTitle"/>
          </p:nvPr>
        </p:nvSpPr>
        <p:spPr>
          <a:xfrm>
            <a:off x="311760" y="1490760"/>
            <a:ext cx="8520000" cy="3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ID: </a:t>
            </a:r>
            <a:r>
              <a:rPr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P13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Guide: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Dr. Anita Shinde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BE-Project:</a:t>
            </a:r>
            <a:r>
              <a:rPr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EdgeMind AI: A Privacy-Preserving On-Device Intelligent Document Assistant Using Fine-Tuned LLMs and Local R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of Project: </a:t>
            </a:r>
            <a:r>
              <a:rPr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of Group Members: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Siddhi Gholap 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BC12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2.Arpita Ingalgi BC129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3.Onkar Kshirsagar BC133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4.Ishwari Ghatge BC164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"/>
          <p:cNvSpPr txBox="1"/>
          <p:nvPr>
            <p:ph idx="1" type="subTitle"/>
          </p:nvPr>
        </p:nvSpPr>
        <p:spPr>
          <a:xfrm>
            <a:off x="656280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12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b="0" i="0" lang="en" sz="936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936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4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>
            <p:ph idx="1" type="subTitle"/>
          </p:nvPr>
        </p:nvSpPr>
        <p:spPr>
          <a:xfrm>
            <a:off x="311760" y="1347120"/>
            <a:ext cx="8520120" cy="36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400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/>
          <p:cNvSpPr txBox="1"/>
          <p:nvPr>
            <p:ph idx="1" type="subTitle"/>
          </p:nvPr>
        </p:nvSpPr>
        <p:spPr>
          <a:xfrm>
            <a:off x="155160" y="4868640"/>
            <a:ext cx="874692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4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 txBox="1"/>
          <p:nvPr>
            <p:ph idx="1" type="subTitle"/>
          </p:nvPr>
        </p:nvSpPr>
        <p:spPr>
          <a:xfrm>
            <a:off x="656280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b="0" i="0" lang="en" sz="936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317500" y="2017800"/>
            <a:ext cx="4148100" cy="2825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Document Privacy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Confidential documents in healthcare, finance, legal, and other sectors require secure handling.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AI tools may expose sensitive information when documents are uploaded to external servers.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AI enables document processing directly on the user's device.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4754100" y="2042850"/>
            <a:ext cx="4148100" cy="2825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EdgeMind AI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AI-powered, on-device document assistant that works without cloud connectivity.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Large Language Models (LLMs) and Retrieval-Augmented Generation (RAG) to answer document-based queries.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Explainable, context-grounded responses with relevant document references.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Incorporates security guardrails to help prevent prompt injection and data leakage.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185d097e2ae313d_0_5"/>
          <p:cNvSpPr txBox="1"/>
          <p:nvPr>
            <p:ph idx="1" type="subTitle"/>
          </p:nvPr>
        </p:nvSpPr>
        <p:spPr>
          <a:xfrm>
            <a:off x="311760" y="1347120"/>
            <a:ext cx="8520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of the Project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Privacy Challenges: Industries like healthcare, banking, and legal handle confidential documents that cannot be freely shared with cloud AI tools.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Offline Security: Running AI offline is not enough; security measures are needed to prevent malicious instructions and data leaks.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Industry Demand: Organizations need AI tools that can process sensitive documents securely without relying on cloud services.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Technical Innovation: The project combines LLM fine-tuning, document retrieval, mobile deployment, and AI security in one application.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h185d097e2ae313d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h185d097e2ae313d_0_5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h185d097e2ae313d_0_5"/>
          <p:cNvSpPr txBox="1"/>
          <p:nvPr>
            <p:ph idx="1" type="subTitle"/>
          </p:nvPr>
        </p:nvSpPr>
        <p:spPr>
          <a:xfrm>
            <a:off x="656280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b="0" i="0" lang="en" sz="936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185d097e2ae313d_0_14"/>
          <p:cNvSpPr txBox="1"/>
          <p:nvPr>
            <p:ph idx="1" type="subTitle"/>
          </p:nvPr>
        </p:nvSpPr>
        <p:spPr>
          <a:xfrm>
            <a:off x="312010" y="1143120"/>
            <a:ext cx="8520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h185d097e2ae313d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h185d097e2ae313d_0_14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h185d097e2ae313d_0_14"/>
          <p:cNvSpPr txBox="1"/>
          <p:nvPr>
            <p:ph idx="1" type="subTitle"/>
          </p:nvPr>
        </p:nvSpPr>
        <p:spPr>
          <a:xfrm>
            <a:off x="656280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b="0" i="0" lang="en" sz="936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h185d097e2ae313d_0_14"/>
          <p:cNvSpPr/>
          <p:nvPr/>
        </p:nvSpPr>
        <p:spPr>
          <a:xfrm>
            <a:off x="268550" y="1928700"/>
            <a:ext cx="8520000" cy="2294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offline, privacy-preserving AI document assistant that answers questions from uploaded documents using fine-tuned Large Language Models (LLMs) and local Retrieval-Augmented Generation (RAG), providing relevant, context-based responses while protecting sensitive information through security guardrails and on-device processing.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h185d097e2ae313d_2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h185d097e2ae313d_2_12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h185d097e2ae313d_2_12"/>
          <p:cNvSpPr txBox="1"/>
          <p:nvPr>
            <p:ph idx="1" type="subTitle"/>
          </p:nvPr>
        </p:nvSpPr>
        <p:spPr>
          <a:xfrm>
            <a:off x="656280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b="0" i="0" lang="en" sz="9367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h185d097e2ae313d_2_12"/>
          <p:cNvSpPr/>
          <p:nvPr/>
        </p:nvSpPr>
        <p:spPr>
          <a:xfrm>
            <a:off x="710650" y="1943263"/>
            <a:ext cx="3394200" cy="1276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pc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Literature Survey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pc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existing on-device AI assistants, LLM fine-tuning (LoRA/QLoRA), RAG techniques and security approaches to identify research gaps.</a:t>
            </a:r>
            <a:endParaRPr/>
          </a:p>
        </p:txBody>
      </p:sp>
      <p:sp>
        <p:nvSpPr>
          <p:cNvPr id="116" name="Google Shape;116;h185d097e2ae313d_2_12"/>
          <p:cNvSpPr/>
          <p:nvPr/>
        </p:nvSpPr>
        <p:spPr>
          <a:xfrm>
            <a:off x="4247725" y="1933638"/>
            <a:ext cx="3394200" cy="1276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pc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System Design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pc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 offline Android architecture integrating document processing, local AI inference, hybrid retrieval and security guardrails.</a:t>
            </a:r>
            <a:endParaRPr/>
          </a:p>
        </p:txBody>
      </p:sp>
      <p:sp>
        <p:nvSpPr>
          <p:cNvPr id="117" name="Google Shape;117;h185d097e2ae313d_2_12"/>
          <p:cNvSpPr/>
          <p:nvPr/>
        </p:nvSpPr>
        <p:spPr>
          <a:xfrm>
            <a:off x="710650" y="3343500"/>
            <a:ext cx="3394200" cy="1247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pc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Model Development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pc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Fine-tune and quantize a lightweight LLM using LoRA/QLoRA for efficient on-device document understanding and question answering.</a:t>
            </a:r>
            <a:endParaRPr/>
          </a:p>
        </p:txBody>
      </p:sp>
      <p:sp>
        <p:nvSpPr>
          <p:cNvPr id="118" name="Google Shape;118;h185d097e2ae313d_2_12"/>
          <p:cNvSpPr/>
          <p:nvPr/>
        </p:nvSpPr>
        <p:spPr>
          <a:xfrm>
            <a:off x="4247725" y="3324250"/>
            <a:ext cx="3394200" cy="1247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pc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Evaluation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pc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response quality, retrieval accuracy, prompt-injection resistance, privacy and on-device performance (latency, memory, battery).</a:t>
            </a:r>
            <a:endParaRPr/>
          </a:p>
        </p:txBody>
      </p:sp>
      <p:sp>
        <p:nvSpPr>
          <p:cNvPr id="119" name="Google Shape;119;h185d097e2ae313d_2_12"/>
          <p:cNvSpPr txBox="1"/>
          <p:nvPr/>
        </p:nvSpPr>
        <p:spPr>
          <a:xfrm>
            <a:off x="350875" y="1265138"/>
            <a:ext cx="508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the Project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idx="1" type="subTitle"/>
          </p:nvPr>
        </p:nvSpPr>
        <p:spPr>
          <a:xfrm>
            <a:off x="311750" y="1158613"/>
            <a:ext cx="8501400" cy="3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of the Project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Zero-Trust AI Architecture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Enable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100% on-device LLM inference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zero cloud dependency, ensuring complete data sovereignty and privacy.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Intelligent Knowledge Engine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Implement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Retrieval + Offline RAG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transform local documents into an intelligent, searchable knowledge base.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Mobile-Optimized AI Platform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Deploy lightweight quantized LLMs optimized for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latency, low memory usage, and efficient smartphone performance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Multimodal AI Ecosystem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Integrate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LLM, Voice, Document Understanding, and Semantic Search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a single privacy-first mobile application.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Enterprise-Ready Secure AI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Deliver a deployable solution for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healthcare, legal, finance, education, and government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confidentiality and offline accessibility are critical.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400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>
            <p:ph idx="1" type="subTitle"/>
          </p:nvPr>
        </p:nvSpPr>
        <p:spPr>
          <a:xfrm>
            <a:off x="656280" y="833400"/>
            <a:ext cx="7744680" cy="278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>
            <p:ph idx="1" type="subTitle"/>
          </p:nvPr>
        </p:nvSpPr>
        <p:spPr>
          <a:xfrm>
            <a:off x="155150" y="4868657"/>
            <a:ext cx="8746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786e28b8_0_31"/>
          <p:cNvSpPr txBox="1"/>
          <p:nvPr>
            <p:ph idx="1" type="subTitle"/>
          </p:nvPr>
        </p:nvSpPr>
        <p:spPr>
          <a:xfrm>
            <a:off x="239600" y="1174450"/>
            <a:ext cx="8596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of the Project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Cost-Effective Deployment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Fully open-source stack with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recurring API or licensing costs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enabling sustainable deployment.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Technically Feasible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Built using mature technologies such as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PEFT, QLoRA, llama.cpp, Hugging Face, Google AI Edge, and Android Studio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Privacy-Driven Solution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Operates entirely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on-device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eliminating cloud dependency and ensuring complete data confidentiality.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Enterprise Adoption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Requires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server infrastructure, API keys, or internet connectivity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reducing deployment complexity.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User Accessibility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Familiar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chat-based interface with document interaction and voice support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minimizing learning time and improving usability.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g3f6786e28b8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f6786e28b8_0_31"/>
          <p:cNvSpPr txBox="1"/>
          <p:nvPr>
            <p:ph idx="1" type="subTitle"/>
          </p:nvPr>
        </p:nvSpPr>
        <p:spPr>
          <a:xfrm>
            <a:off x="656280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6786e28b8_0_31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>
            <p:ph idx="1" type="subTitle"/>
          </p:nvPr>
        </p:nvSpPr>
        <p:spPr>
          <a:xfrm>
            <a:off x="268610" y="642895"/>
            <a:ext cx="8520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400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>
            <p:ph idx="1" type="subTitle"/>
          </p:nvPr>
        </p:nvSpPr>
        <p:spPr>
          <a:xfrm>
            <a:off x="1043793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>
            <p:ph idx="1" type="subTitle"/>
          </p:nvPr>
        </p:nvSpPr>
        <p:spPr>
          <a:xfrm>
            <a:off x="155160" y="4868640"/>
            <a:ext cx="874692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4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4" name="Google Shape;144;p4"/>
          <p:cNvGraphicFramePr/>
          <p:nvPr/>
        </p:nvGraphicFramePr>
        <p:xfrm>
          <a:off x="142725" y="142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{B58D4C13-7766-4214-83BA-9AAB6EA30B77}</a:tableStyleId>
              </a:tblPr>
              <a:tblGrid>
                <a:gridCol w="441675"/>
                <a:gridCol w="2060025"/>
                <a:gridCol w="1453550"/>
                <a:gridCol w="1113500"/>
                <a:gridCol w="2107775"/>
                <a:gridCol w="1682025"/>
              </a:tblGrid>
              <a:tr h="436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/ Study (Year)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Approach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 Parameters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 / Gaps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Privacy-Preserving Medical Chatbot (2026)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Local LLM + QLoRA + GGUF for offline inference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Secure, privacy-preserving local healthcare AI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Response accuracy/quality, inference latency, memory footprint, privacy (no data leaves device)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Medical domain only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general-purpose AI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hybrid retrieval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Federated Adaptive Fine-Tuning of LLM with Heterogeneous Quantization and LoRA (2025)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Federated LoRA + quantization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Privacy-preserving fine-tuning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accuracy, convergence rate, communication cost, training time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Training only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standalone deployment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784dff32_0_250"/>
          <p:cNvSpPr txBox="1"/>
          <p:nvPr>
            <p:ph idx="1" type="subTitle"/>
          </p:nvPr>
        </p:nvSpPr>
        <p:spPr>
          <a:xfrm>
            <a:off x="268610" y="642895"/>
            <a:ext cx="8520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g3f6784dff32_0_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f6784dff32_0_250"/>
          <p:cNvSpPr txBox="1"/>
          <p:nvPr>
            <p:ph idx="1" type="subTitle"/>
          </p:nvPr>
        </p:nvSpPr>
        <p:spPr>
          <a:xfrm>
            <a:off x="1043793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f6784dff32_0_250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" name="Google Shape;153;g3f6784dff32_0_250"/>
          <p:cNvGraphicFramePr/>
          <p:nvPr/>
        </p:nvGraphicFramePr>
        <p:xfrm>
          <a:off x="288950" y="1468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{B58D4C13-7766-4214-83BA-9AAB6EA30B77}</a:tableStyleId>
              </a:tblPr>
              <a:tblGrid>
                <a:gridCol w="451175"/>
                <a:gridCol w="1582450"/>
                <a:gridCol w="1867575"/>
                <a:gridCol w="1032550"/>
                <a:gridCol w="1889300"/>
                <a:gridCol w="1656150"/>
              </a:tblGrid>
              <a:tr h="47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/ Study (Year)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Approach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 Parameters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 / Gaps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MobiZO: On-Device Mobile Fine-Tuning via ExecuTorch (2025)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Zeroth-order fine-tuning on mobile inference engine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 mobile/edge training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Fine-tuning accuracy, memory usage, training speed/runtime on device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Training framework only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RAG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intelligent assistant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 Edge LLM Serving (2025)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Reinforcement-learning-based caching and inference offloading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Lower edge latency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latency, cache hit ratio, offloading/resource cost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Depends on edge servers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Internet required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Not fully offline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6784dff32_0_267"/>
          <p:cNvSpPr txBox="1"/>
          <p:nvPr>
            <p:ph idx="1" type="subTitle"/>
          </p:nvPr>
        </p:nvSpPr>
        <p:spPr>
          <a:xfrm>
            <a:off x="268610" y="642895"/>
            <a:ext cx="8520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3f6784dff32_0_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f6784dff32_0_267"/>
          <p:cNvSpPr txBox="1"/>
          <p:nvPr>
            <p:ph idx="1" type="subTitle"/>
          </p:nvPr>
        </p:nvSpPr>
        <p:spPr>
          <a:xfrm>
            <a:off x="1043793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6784dff32_0_267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2" name="Google Shape;162;g3f6784dff32_0_267"/>
          <p:cNvGraphicFramePr/>
          <p:nvPr/>
        </p:nvGraphicFramePr>
        <p:xfrm>
          <a:off x="312013" y="136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{B58D4C13-7766-4214-83BA-9AAB6EA30B77}</a:tableStyleId>
              </a:tblPr>
              <a:tblGrid>
                <a:gridCol w="478250"/>
                <a:gridCol w="1980750"/>
                <a:gridCol w="1334725"/>
                <a:gridCol w="934525"/>
                <a:gridCol w="2063150"/>
                <a:gridCol w="1728575"/>
              </a:tblGrid>
              <a:tr h="51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/ Study (Year)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Approach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 Parameters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 / Gaps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MobileLLM: Optimizing Sub-billion Parameter Language Models for On-Device Use Cases (2024)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Lightweight, deep-and-thin LLM architecture for mobile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 on-device inference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Zero-shot commonsense reasoning accuracy, QA/reading comprehension, chat benchmarks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RAG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privacy layer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end-user application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PocketLLM: Enabling On-Device Fine-Tuning for Personalized LLMs (2024)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On-device LLM fine-tuning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Personalized mobile AI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Fine-tuning accuracy, memory consumption, training time on device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Only fine-tuning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document retrieval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multimodal support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185d097e2ae313d_1_17"/>
          <p:cNvSpPr txBox="1"/>
          <p:nvPr>
            <p:ph idx="1" type="subTitle"/>
          </p:nvPr>
        </p:nvSpPr>
        <p:spPr>
          <a:xfrm>
            <a:off x="268610" y="642895"/>
            <a:ext cx="8520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h185d097e2ae313d_1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h185d097e2ae313d_1_17"/>
          <p:cNvSpPr txBox="1"/>
          <p:nvPr>
            <p:ph idx="1" type="subTitle"/>
          </p:nvPr>
        </p:nvSpPr>
        <p:spPr>
          <a:xfrm>
            <a:off x="1043793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h185d097e2ae313d_1_17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Google Shape;171;h185d097e2ae313d_1_17"/>
          <p:cNvGraphicFramePr/>
          <p:nvPr/>
        </p:nvGraphicFramePr>
        <p:xfrm>
          <a:off x="268550" y="139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{B58D4C13-7766-4214-83BA-9AAB6EA30B77}</a:tableStyleId>
              </a:tblPr>
              <a:tblGrid>
                <a:gridCol w="392950"/>
                <a:gridCol w="1554275"/>
                <a:gridCol w="1491100"/>
                <a:gridCol w="1289925"/>
                <a:gridCol w="1878325"/>
                <a:gridCol w="1913400"/>
              </a:tblGrid>
              <a:tr h="51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/ Study (Year)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Approach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 Parameters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 / Gaps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Fine-Tuning of LLMs with Quantization and LoRA, i.e. QLoRA (2023)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4-bit quantized fine-tuning using QLoRA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Low-memory LLM training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MMLU accuracy, chatbot benchmark scores (Vicuna), GPU memory footprint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mobile deployment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application layer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vLLM (PagedAttention) (2023)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Paged KV-cache memory management for efficient LLM serving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 inference and lower memory usage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Throughput (requests/s), latency, KV-cache memory waste, batch size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Server-oriented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Not designed for smartphones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offline assistant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185d097e2ae313d_1_26"/>
          <p:cNvSpPr txBox="1"/>
          <p:nvPr>
            <p:ph idx="1" type="subTitle"/>
          </p:nvPr>
        </p:nvSpPr>
        <p:spPr>
          <a:xfrm>
            <a:off x="268610" y="642895"/>
            <a:ext cx="8520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h185d097e2ae313d_1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h185d097e2ae313d_1_26"/>
          <p:cNvSpPr txBox="1"/>
          <p:nvPr>
            <p:ph idx="1" type="subTitle"/>
          </p:nvPr>
        </p:nvSpPr>
        <p:spPr>
          <a:xfrm>
            <a:off x="1043793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h185d097e2ae313d_1_26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0" name="Google Shape;180;h185d097e2ae313d_1_26"/>
          <p:cNvGraphicFramePr/>
          <p:nvPr/>
        </p:nvGraphicFramePr>
        <p:xfrm>
          <a:off x="170863" y="157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{B58D4C13-7766-4214-83BA-9AAB6EA30B77}</a:tableStyleId>
              </a:tblPr>
              <a:tblGrid>
                <a:gridCol w="475100"/>
                <a:gridCol w="1668025"/>
                <a:gridCol w="1333500"/>
                <a:gridCol w="914400"/>
                <a:gridCol w="2797200"/>
                <a:gridCol w="1527150"/>
              </a:tblGrid>
              <a:tr h="361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/ Study (Year)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Approach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 Parameters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 / Gaps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Retrieval-Augmented Generation for Knowledge-Intensive NLP Tasks (2020)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Retrieval-Augmented Generation (RAG)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Improved factual responses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 Match on open-domain QA, ROUGE/BLEU for generation, fact-verification accuracy, human factuality/specificity ratings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Cloud-based retrieval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offline support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security against injected content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 txBox="1"/>
          <p:nvPr>
            <p:ph idx="1" type="subTitle"/>
          </p:nvPr>
        </p:nvSpPr>
        <p:spPr>
          <a:xfrm>
            <a:off x="311760" y="1347120"/>
            <a:ext cx="8520120" cy="36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400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"/>
          <p:cNvSpPr txBox="1"/>
          <p:nvPr>
            <p:ph idx="1" type="subTitle"/>
          </p:nvPr>
        </p:nvSpPr>
        <p:spPr>
          <a:xfrm>
            <a:off x="656280" y="833400"/>
            <a:ext cx="7744680" cy="278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>
            <p:ph idx="1" type="subTitle"/>
          </p:nvPr>
        </p:nvSpPr>
        <p:spPr>
          <a:xfrm>
            <a:off x="155160" y="4868640"/>
            <a:ext cx="874692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4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5"/>
          <p:cNvPicPr preferRelativeResize="0"/>
          <p:nvPr/>
        </p:nvPicPr>
        <p:blipFill rotWithShape="1">
          <a:blip r:embed="rId4">
            <a:alphaModFix/>
          </a:blip>
          <a:srcRect b="20206" l="3354" r="3466" t="5670"/>
          <a:stretch/>
        </p:blipFill>
        <p:spPr>
          <a:xfrm>
            <a:off x="268550" y="1477600"/>
            <a:ext cx="8132400" cy="3639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>
            <p:ph idx="1" type="subTitle"/>
          </p:nvPr>
        </p:nvSpPr>
        <p:spPr>
          <a:xfrm>
            <a:off x="248150" y="833400"/>
            <a:ext cx="8362200" cy="4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Preparation: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lightweight LLM (~1–2B parameters) is fine-tuned using LoRA/QLoRA and quantized to GGUF INT4 format for efficient Android deployment.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Upload &amp; Parsing: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user uploads a PDF, from which the system extracts and cleans the text.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Chunking &amp; Embedding: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text is divided into overlapping chunks using a Recursive Character Text Splitter. Each chunk is converted into an embedding using a local model such as MiniLM/BGE-small.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 — Local Indexing: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Text chunks, embeddings, and keyword indexes are stored locally in SQLite, making the document searchable.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 — User Query &amp; Input Guardrail: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user submits a text/voice query. An input guardrail checks for prompt injection and out-of-scope content.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6 — Hybrid Retrieval: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Dense retrieval (Cosine Similarity) and sparse retrieval (BM25) run in parallel. Their ranked results are combined using Reciprocal Rank Fusion (RRF) to select relevant context.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7 — Response Generation: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 combines the system instruction, retrieved context, conversation history, and query into a prompt for the quantized LLM, which generates the response token-by-token.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8 — Output Guardrail &amp; Delivery: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response is checked for leakage and scope violations, then displayed and logged locally.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400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 txBox="1"/>
          <p:nvPr>
            <p:ph idx="1" type="subTitle"/>
          </p:nvPr>
        </p:nvSpPr>
        <p:spPr>
          <a:xfrm>
            <a:off x="656205" y="7396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 txBox="1"/>
          <p:nvPr>
            <p:ph idx="1" type="subTitle"/>
          </p:nvPr>
        </p:nvSpPr>
        <p:spPr>
          <a:xfrm>
            <a:off x="155160" y="4868640"/>
            <a:ext cx="874692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4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/>
          <p:nvPr>
            <p:ph idx="1" type="subTitle"/>
          </p:nvPr>
        </p:nvSpPr>
        <p:spPr>
          <a:xfrm>
            <a:off x="311950" y="1174325"/>
            <a:ext cx="8520000" cy="3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latin typeface="Times New Roman"/>
                <a:ea typeface="Times New Roman"/>
                <a:cs typeface="Times New Roman"/>
                <a:sym typeface="Times New Roman"/>
              </a:rPr>
              <a:t>Software Requirements:</a:t>
            </a:r>
            <a:endParaRPr b="1" sz="6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Windows 11 / Ubuntu 22.04 LTS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Python 3.13.x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Kotlin 2.2.x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Android Studio Rabbit 1 (2026.2.1)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PyTorch 2.11.x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Hugging Face Transformers 5.19.0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llama.cpp 0.6.0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Android SDK, NDK and JNI (latest compatible stable versions)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SQLite 3.x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Git 2.x and GitHub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latin typeface="Times New Roman"/>
                <a:ea typeface="Times New Roman"/>
                <a:cs typeface="Times New Roman"/>
                <a:sym typeface="Times New Roman"/>
              </a:rPr>
              <a:t>Hardware Requirements:</a:t>
            </a:r>
            <a:endParaRPr b="1" sz="6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Intel Core i7 / AMD Ryzen 7 Processor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v5e1-TPU (Tesla T4 / RTX 3060 or higher) for model training and fine-tuning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Minimum 16 GB RAM (32 GB recommended)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Minimum 100 GB SSD Storage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5600">
                <a:latin typeface="Times New Roman"/>
                <a:ea typeface="Times New Roman"/>
                <a:cs typeface="Times New Roman"/>
                <a:sym typeface="Times New Roman"/>
              </a:rPr>
              <a:t>Android Smartphone with Snapdragon 8-Series Processor, 8 GB RAM or higher (for mobile application testing)</a:t>
            </a:r>
            <a:endParaRPr i="0" sz="5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400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>
            <p:ph idx="1" type="subTitle"/>
          </p:nvPr>
        </p:nvSpPr>
        <p:spPr>
          <a:xfrm>
            <a:off x="656280" y="833400"/>
            <a:ext cx="7744680" cy="278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>
            <p:ph idx="1" type="subTitle"/>
          </p:nvPr>
        </p:nvSpPr>
        <p:spPr>
          <a:xfrm>
            <a:off x="198600" y="4865101"/>
            <a:ext cx="8746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09ce94ca69_0_1"/>
          <p:cNvSpPr txBox="1"/>
          <p:nvPr>
            <p:ph idx="1" type="subTitle"/>
          </p:nvPr>
        </p:nvSpPr>
        <p:spPr>
          <a:xfrm>
            <a:off x="212450" y="894675"/>
            <a:ext cx="8632200" cy="3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1" name="Google Shape;211;g409ce94ca69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409ce94ca69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925" y="1298375"/>
            <a:ext cx="6807249" cy="39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6786e28b8_1_22"/>
          <p:cNvSpPr txBox="1"/>
          <p:nvPr>
            <p:ph idx="1" type="subTitle"/>
          </p:nvPr>
        </p:nvSpPr>
        <p:spPr>
          <a:xfrm>
            <a:off x="457550" y="1186600"/>
            <a:ext cx="7943400" cy="3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9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</a:t>
            </a:r>
            <a:r>
              <a:rPr b="1" lang="en" sz="19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Output of the Project</a:t>
            </a:r>
            <a:endParaRPr b="1" sz="197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Inputs:</a:t>
            </a:r>
            <a:endParaRPr b="1" sz="14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57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64"/>
              <a:buAutoNum type="arabicPeriod"/>
            </a:pPr>
            <a:r>
              <a:rPr b="1"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Query</a:t>
            </a:r>
            <a:r>
              <a:rPr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natural language question typed by the user in the chat interface.</a:t>
            </a:r>
            <a:endParaRPr sz="14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5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4"/>
              <a:buAutoNum type="arabicPeriod"/>
            </a:pPr>
            <a:r>
              <a:rPr b="1"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Uploaded Document (PDF)</a:t>
            </a:r>
            <a:r>
              <a:rPr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reports, contracts, manuals, or statements the user wants to query.</a:t>
            </a:r>
            <a:endParaRPr sz="14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5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4"/>
              <a:buAutoNum type="arabicPeriod"/>
            </a:pPr>
            <a:r>
              <a:rPr b="1"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Conversation Context</a:t>
            </a:r>
            <a:r>
              <a:rPr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prior messages in the session, used to maintain continuity.</a:t>
            </a:r>
            <a:endParaRPr sz="14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5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4"/>
              <a:buAutoNum type="arabicPeriod"/>
            </a:pPr>
            <a:r>
              <a:rPr b="1"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Input (optional)</a:t>
            </a:r>
            <a:r>
              <a:rPr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spoken query converted to text via on-device speech-to-text.</a:t>
            </a:r>
            <a:endParaRPr sz="14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Outputs:</a:t>
            </a:r>
            <a:endParaRPr b="1" sz="14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57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64"/>
              <a:buAutoNum type="arabicPeriod"/>
            </a:pPr>
            <a:r>
              <a:rPr b="1"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Context-Aware Text Response</a:t>
            </a:r>
            <a:r>
              <a:rPr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an answer generated by the LLM, grounded in the retrieved document content.</a:t>
            </a:r>
            <a:endParaRPr sz="14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5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4"/>
              <a:buAutoNum type="arabicPeriod"/>
            </a:pPr>
            <a:r>
              <a:rPr b="1"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Reference</a:t>
            </a:r>
            <a:r>
              <a:rPr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the specific document/chunk used to generate the answer, for traceability.</a:t>
            </a:r>
            <a:endParaRPr sz="14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5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4"/>
              <a:buAutoNum type="arabicPeriod"/>
            </a:pPr>
            <a:r>
              <a:rPr b="1"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Response</a:t>
            </a:r>
            <a:r>
              <a:rPr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tokens displayed progressively in the chat UI as they are generated.</a:t>
            </a:r>
            <a:endParaRPr sz="14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5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4"/>
              <a:buAutoNum type="arabicPeriod"/>
            </a:pPr>
            <a:r>
              <a:rPr b="1"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Output (optional)</a:t>
            </a:r>
            <a:r>
              <a:rPr lang="en" sz="146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spoken response delivered via on-device text-to-speech.</a:t>
            </a:r>
            <a:endParaRPr sz="146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8" name="Google Shape;218;g3f6786e28b8_1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6786e28b8_1_22"/>
          <p:cNvSpPr txBox="1"/>
          <p:nvPr>
            <p:ph idx="1" type="subTitle"/>
          </p:nvPr>
        </p:nvSpPr>
        <p:spPr>
          <a:xfrm>
            <a:off x="656280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b="1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6786e28b8_1_22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g409ce94ca69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399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409ce94ca69_1_0"/>
          <p:cNvSpPr txBox="1"/>
          <p:nvPr>
            <p:ph idx="1" type="subTitle"/>
          </p:nvPr>
        </p:nvSpPr>
        <p:spPr>
          <a:xfrm>
            <a:off x="656280" y="833400"/>
            <a:ext cx="77448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b="1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409ce94ca69_1_0"/>
          <p:cNvSpPr txBox="1"/>
          <p:nvPr>
            <p:ph idx="1" type="subTitle"/>
          </p:nvPr>
        </p:nvSpPr>
        <p:spPr>
          <a:xfrm>
            <a:off x="155160" y="4868640"/>
            <a:ext cx="8746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409ce94ca69_1_0"/>
          <p:cNvSpPr txBox="1"/>
          <p:nvPr/>
        </p:nvSpPr>
        <p:spPr>
          <a:xfrm>
            <a:off x="155150" y="1056425"/>
            <a:ext cx="473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Analysis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Plan:</a:t>
            </a:r>
            <a:endParaRPr/>
          </a:p>
        </p:txBody>
      </p:sp>
      <p:graphicFrame>
        <p:nvGraphicFramePr>
          <p:cNvPr id="229" name="Google Shape;229;g409ce94ca69_1_0"/>
          <p:cNvGraphicFramePr/>
          <p:nvPr/>
        </p:nvGraphicFramePr>
        <p:xfrm>
          <a:off x="457550" y="1622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{B58D4C13-7766-4214-83BA-9AAB6EA30B77}</a:tableStyleId>
              </a:tblPr>
              <a:tblGrid>
                <a:gridCol w="2751475"/>
                <a:gridCol w="981850"/>
                <a:gridCol w="43726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Risk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Mitigation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On-device performance &amp; memory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1–2B model, INT4 quantization &amp; optimize inference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accuracy after quantization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 before/after quantization and evaluate accuracy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Incorrect document retrieval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Hybrid RAG: Dense + BM25 + RRF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Privacy &amp; data leakage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Input/output guardrails + encrypted local storage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PDF parsing &amp; extraction errors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Medium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Robust parser, text cleaning, chunking &amp; validation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 txBox="1"/>
          <p:nvPr>
            <p:ph idx="1" type="subTitle"/>
          </p:nvPr>
        </p:nvSpPr>
        <p:spPr>
          <a:xfrm>
            <a:off x="311750" y="1189275"/>
            <a:ext cx="8089200" cy="3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66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166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Z. Liu, C. Zhao, F. Iandola,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MobileLLM: Optimizing Sub-billion Parameter Language Models for On-Device Use Cases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,”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41st International Conference on Machine Learning (ICML)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PMLR, vol. 235, pp. 1–24, 2024.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D. Peng, Z. Fu, J. Wang,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PocketLLM: Enabling On-Device Fine-Tuning for Personalized LLMs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,”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Fifth Workshop on Privacy in Natural Language Processing (ACL Workshop)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pp. 91–96, Aug. 2024.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T. Dettmers, A. Pagnoni, A. Holtzman, and L. Zettlemoyer, “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QLoRA: Efficient Finetuning of Quantized LLMs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,”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Advances in Neural Information Processing Systems (NeurIPS)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2023.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E. Hu, Y. Shen, P. Wallis,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LoRA: Low-Rank Adaptation of Large Language Models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,”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Conference on Learning Representations (ICLR)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2022.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P. Lewis, E. Perez, A. Piktus,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for Knowledge-Intensive NLP Tasks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,”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Advances in Neural Information Processing Systems (NeurIPS)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33, pp. 9459–9474, 2020.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W. Kwon, Z. Li, S. Zhuang,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Memory Management for Large Language Model Serving with PagedAttention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,”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ACM Symposium on Operating Systems Principles (SOSP)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pp. 611–626, 2023.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Z. Gao, Z. Zhang, Y. Guo, and Y. Gong, “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Federated Adaptive Fine-Tuning of Large Language Models with Heterogeneous Quantization and LoRA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,”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INFOCOM 2025 – IEEE Conference on Computer Communications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2025.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L. Gao, A. Ziashahabi, Y. Niu,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MobiZO: Enabling Efficient LLM Fine-Tuning at the Edge via Inference Engines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,” </a:t>
            </a:r>
            <a:r>
              <a:rPr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 arXiv:2409.15520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2025.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sz="128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188"/>
              <a:buFont typeface="Arial"/>
              <a:buNone/>
            </a:pPr>
            <a:r>
              <a:t/>
            </a:r>
            <a:endParaRPr sz="172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5" name="Google Shape;2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400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 txBox="1"/>
          <p:nvPr>
            <p:ph idx="1" type="subTitle"/>
          </p:nvPr>
        </p:nvSpPr>
        <p:spPr>
          <a:xfrm>
            <a:off x="656280" y="833400"/>
            <a:ext cx="7744680" cy="278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 txBox="1"/>
          <p:nvPr>
            <p:ph idx="1" type="subTitle"/>
          </p:nvPr>
        </p:nvSpPr>
        <p:spPr>
          <a:xfrm>
            <a:off x="155160" y="4868640"/>
            <a:ext cx="874692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4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>
            <p:ph idx="1" type="subTitle"/>
          </p:nvPr>
        </p:nvSpPr>
        <p:spPr>
          <a:xfrm>
            <a:off x="268610" y="833395"/>
            <a:ext cx="8520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YOU!!!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Times New Roman"/>
              <a:buNone/>
            </a:pPr>
            <a:r>
              <a:rPr b="0" i="0" lang="en" sz="20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60" y="142920"/>
            <a:ext cx="7943400" cy="69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 txBox="1"/>
          <p:nvPr>
            <p:ph idx="1" type="subTitle"/>
          </p:nvPr>
        </p:nvSpPr>
        <p:spPr>
          <a:xfrm>
            <a:off x="656280" y="833400"/>
            <a:ext cx="7744680" cy="278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2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b="1" i="0" lang="e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	</a:t>
            </a: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>
            <p:ph idx="1" type="subTitle"/>
          </p:nvPr>
        </p:nvSpPr>
        <p:spPr>
          <a:xfrm>
            <a:off x="155160" y="4868640"/>
            <a:ext cx="874692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rmAutofit fontScale="4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Project Review1                                                                                                                                                                                                                     2025-26 SEM-I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</cp:coreProperties>
</file>